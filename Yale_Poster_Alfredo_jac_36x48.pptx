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f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2918400" cy="43891200"/>
  <p:notesSz cx="20104100" cy="149987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46D65D-6D41-420A-B67D-9D4D12051083}" v="3" dt="2025-07-24T09:27:21.936"/>
    <p1510:client id="{098AF2B7-2518-4936-9039-597A328B7722}" v="2" dt="2025-07-24T21:07:53.321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5434" autoAdjust="0"/>
    <p:restoredTop sz="95726" autoAdjust="0"/>
  </p:normalViewPr>
  <p:slideViewPr>
    <p:cSldViewPr>
      <p:cViewPr>
        <p:scale>
          <a:sx n="146" d="100"/>
          <a:sy n="146" d="100"/>
        </p:scale>
        <p:origin x="-8803" y="-691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bian Frontera" userId="68c34ccde4c235f4" providerId="LiveId" clId="{098AF2B7-2518-4936-9039-597A328B7722}"/>
    <pc:docChg chg="undo custSel modSld">
      <pc:chgData name="Fabian Frontera" userId="68c34ccde4c235f4" providerId="LiveId" clId="{098AF2B7-2518-4936-9039-597A328B7722}" dt="2025-07-24T21:36:01.385" v="236" actId="1076"/>
      <pc:docMkLst>
        <pc:docMk/>
      </pc:docMkLst>
      <pc:sldChg chg="addSp delSp modSp mod">
        <pc:chgData name="Fabian Frontera" userId="68c34ccde4c235f4" providerId="LiveId" clId="{098AF2B7-2518-4936-9039-597A328B7722}" dt="2025-07-24T21:36:01.385" v="236" actId="1076"/>
        <pc:sldMkLst>
          <pc:docMk/>
          <pc:sldMk cId="0" sldId="256"/>
        </pc:sldMkLst>
        <pc:spChg chg="add mod">
          <ac:chgData name="Fabian Frontera" userId="68c34ccde4c235f4" providerId="LiveId" clId="{098AF2B7-2518-4936-9039-597A328B7722}" dt="2025-07-24T21:19:41.616" v="50" actId="14100"/>
          <ac:spMkLst>
            <pc:docMk/>
            <pc:sldMk cId="0" sldId="256"/>
            <ac:spMk id="2" creationId="{E6BC547A-0098-F5F2-E56C-DC4FCE72FDA4}"/>
          </ac:spMkLst>
        </pc:spChg>
        <pc:spChg chg="mod">
          <ac:chgData name="Fabian Frontera" userId="68c34ccde4c235f4" providerId="LiveId" clId="{098AF2B7-2518-4936-9039-597A328B7722}" dt="2025-07-24T21:21:02.593" v="54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10:15.923" v="30" actId="14100"/>
          <ac:spMkLst>
            <pc:docMk/>
            <pc:sldMk cId="0" sldId="256"/>
            <ac:spMk id="6" creationId="{00000000-0000-0000-0000-000000000000}"/>
          </ac:spMkLst>
        </pc:spChg>
        <pc:spChg chg="add mod">
          <ac:chgData name="Fabian Frontera" userId="68c34ccde4c235f4" providerId="LiveId" clId="{098AF2B7-2518-4936-9039-597A328B7722}" dt="2025-07-24T21:33:41.349" v="228" actId="1076"/>
          <ac:spMkLst>
            <pc:docMk/>
            <pc:sldMk cId="0" sldId="256"/>
            <ac:spMk id="8" creationId="{BA55EE95-0F8A-2E16-5B90-20CE6FAF0D9B}"/>
          </ac:spMkLst>
        </pc:spChg>
        <pc:spChg chg="mod">
          <ac:chgData name="Fabian Frontera" userId="68c34ccde4c235f4" providerId="LiveId" clId="{098AF2B7-2518-4936-9039-597A328B7722}" dt="2025-07-24T21:20:28.170" v="51" actId="1076"/>
          <ac:spMkLst>
            <pc:docMk/>
            <pc:sldMk cId="0" sldId="256"/>
            <ac:spMk id="20" creationId="{00000000-0000-0000-0000-000000000000}"/>
          </ac:spMkLst>
        </pc:spChg>
        <pc:spChg chg="del mod">
          <ac:chgData name="Fabian Frontera" userId="68c34ccde4c235f4" providerId="LiveId" clId="{098AF2B7-2518-4936-9039-597A328B7722}" dt="2025-07-24T21:09:05.502" v="22" actId="478"/>
          <ac:spMkLst>
            <pc:docMk/>
            <pc:sldMk cId="0" sldId="256"/>
            <ac:spMk id="21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21:56.233" v="55" actId="1076"/>
          <ac:spMkLst>
            <pc:docMk/>
            <pc:sldMk cId="0" sldId="256"/>
            <ac:spMk id="29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35:09.779" v="231" actId="14100"/>
          <ac:spMkLst>
            <pc:docMk/>
            <pc:sldMk cId="0" sldId="256"/>
            <ac:spMk id="36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35:18.201" v="233" actId="14100"/>
          <ac:spMkLst>
            <pc:docMk/>
            <pc:sldMk cId="0" sldId="256"/>
            <ac:spMk id="42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36:01.385" v="236" actId="1076"/>
          <ac:spMkLst>
            <pc:docMk/>
            <pc:sldMk cId="0" sldId="256"/>
            <ac:spMk id="46" creationId="{00000000-0000-0000-0000-000000000000}"/>
          </ac:spMkLst>
        </pc:spChg>
        <pc:spChg chg="mod">
          <ac:chgData name="Fabian Frontera" userId="68c34ccde4c235f4" providerId="LiveId" clId="{098AF2B7-2518-4936-9039-597A328B7722}" dt="2025-07-24T21:34:59.914" v="229" actId="14100"/>
          <ac:spMkLst>
            <pc:docMk/>
            <pc:sldMk cId="0" sldId="256"/>
            <ac:spMk id="66" creationId="{D9E071BB-A3DC-33A3-DAFD-00C797BFB84E}"/>
          </ac:spMkLst>
        </pc:spChg>
        <pc:spChg chg="del mod">
          <ac:chgData name="Fabian Frontera" userId="68c34ccde4c235f4" providerId="LiveId" clId="{098AF2B7-2518-4936-9039-597A328B7722}" dt="2025-07-24T21:09:13.072" v="24" actId="478"/>
          <ac:spMkLst>
            <pc:docMk/>
            <pc:sldMk cId="0" sldId="256"/>
            <ac:spMk id="93" creationId="{26F263CB-E527-FAD1-7E5E-F14CC98BFD3E}"/>
          </ac:spMkLst>
        </pc:spChg>
        <pc:spChg chg="mod">
          <ac:chgData name="Fabian Frontera" userId="68c34ccde4c235f4" providerId="LiveId" clId="{098AF2B7-2518-4936-9039-597A328B7722}" dt="2025-07-24T21:30:24.177" v="195" actId="1076"/>
          <ac:spMkLst>
            <pc:docMk/>
            <pc:sldMk cId="0" sldId="256"/>
            <ac:spMk id="103" creationId="{2C0D6F80-F4E9-5032-6845-3A1F0BF5EB99}"/>
          </ac:spMkLst>
        </pc:spChg>
        <pc:picChg chg="del mod">
          <ac:chgData name="Fabian Frontera" userId="68c34ccde4c235f4" providerId="LiveId" clId="{098AF2B7-2518-4936-9039-597A328B7722}" dt="2025-07-24T21:26:07.516" v="65" actId="478"/>
          <ac:picMkLst>
            <pc:docMk/>
            <pc:sldMk cId="0" sldId="256"/>
            <ac:picMk id="11" creationId="{8D374A2C-945F-C7A8-FCC4-3BDB19BA67C6}"/>
          </ac:picMkLst>
        </pc:picChg>
        <pc:picChg chg="del">
          <ac:chgData name="Fabian Frontera" userId="68c34ccde4c235f4" providerId="LiveId" clId="{098AF2B7-2518-4936-9039-597A328B7722}" dt="2025-07-24T21:26:05.611" v="64" actId="478"/>
          <ac:picMkLst>
            <pc:docMk/>
            <pc:sldMk cId="0" sldId="256"/>
            <ac:picMk id="13" creationId="{39229BE4-C94B-8F86-4213-E7F5BABD54ED}"/>
          </ac:picMkLst>
        </pc:picChg>
        <pc:picChg chg="add mod ord modCrop">
          <ac:chgData name="Fabian Frontera" userId="68c34ccde4c235f4" providerId="LiveId" clId="{098AF2B7-2518-4936-9039-597A328B7722}" dt="2025-07-24T21:33:15.624" v="226" actId="1076"/>
          <ac:picMkLst>
            <pc:docMk/>
            <pc:sldMk cId="0" sldId="256"/>
            <ac:picMk id="15" creationId="{CA1DAB34-DE21-1C35-FAC4-35AD5BE23778}"/>
          </ac:picMkLst>
        </pc:picChg>
        <pc:picChg chg="add mod">
          <ac:chgData name="Fabian Frontera" userId="68c34ccde4c235f4" providerId="LiveId" clId="{098AF2B7-2518-4936-9039-597A328B7722}" dt="2025-07-24T21:31:06.620" v="204" actId="1076"/>
          <ac:picMkLst>
            <pc:docMk/>
            <pc:sldMk cId="0" sldId="256"/>
            <ac:picMk id="17" creationId="{FBA098F4-B7C6-4C85-D88A-9AFF916F270C}"/>
          </ac:picMkLst>
        </pc:picChg>
        <pc:picChg chg="mod">
          <ac:chgData name="Fabian Frontera" userId="68c34ccde4c235f4" providerId="LiveId" clId="{098AF2B7-2518-4936-9039-597A328B7722}" dt="2025-07-24T21:07:57.247" v="14" actId="1076"/>
          <ac:picMkLst>
            <pc:docMk/>
            <pc:sldMk cId="0" sldId="256"/>
            <ac:picMk id="57" creationId="{B69B3D88-7676-8726-AA62-7CC8E5087FD7}"/>
          </ac:picMkLst>
        </pc:picChg>
        <pc:picChg chg="mod">
          <ac:chgData name="Fabian Frontera" userId="68c34ccde4c235f4" providerId="LiveId" clId="{098AF2B7-2518-4936-9039-597A328B7722}" dt="2025-07-24T21:14:13.825" v="38" actId="1076"/>
          <ac:picMkLst>
            <pc:docMk/>
            <pc:sldMk cId="0" sldId="256"/>
            <ac:picMk id="74" creationId="{2544EDDC-C4C8-6951-BD31-BCFE89943C6E}"/>
          </ac:picMkLst>
        </pc:picChg>
        <pc:cxnChg chg="mod">
          <ac:chgData name="Fabian Frontera" userId="68c34ccde4c235f4" providerId="LiveId" clId="{098AF2B7-2518-4936-9039-597A328B7722}" dt="2025-07-24T21:14:20.370" v="41" actId="1076"/>
          <ac:cxnSpMkLst>
            <pc:docMk/>
            <pc:sldMk cId="0" sldId="256"/>
            <ac:cxnSpMk id="90" creationId="{CC893A01-F9CB-C30C-3BF7-26CABFAF8373}"/>
          </ac:cxnSpMkLst>
        </pc:cxn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752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752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CA13B3-50C8-C140-9CAF-C4B0677BC932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874838"/>
            <a:ext cx="6784975" cy="50625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7218363"/>
            <a:ext cx="16084550" cy="59055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4246225"/>
            <a:ext cx="8712200" cy="752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4246225"/>
            <a:ext cx="8712200" cy="752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18421A-3BAF-CB41-8B85-CEDE9F3D2A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1721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18421A-3BAF-CB41-8B85-CEDE9F3D2AD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56426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4649597"/>
            <a:ext cx="17088486" cy="314972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8399272"/>
            <a:ext cx="14072870" cy="3749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3449701"/>
            <a:ext cx="8745284" cy="9899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3449701"/>
            <a:ext cx="8745284" cy="9899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35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"/>
            <a:ext cx="20104100" cy="1929764"/>
          </a:xfrm>
          <a:custGeom>
            <a:avLst/>
            <a:gdLst/>
            <a:ahLst/>
            <a:cxnLst/>
            <a:rect l="l" t="t" r="r" b="b"/>
            <a:pathLst>
              <a:path w="20104100" h="1929764">
                <a:moveTo>
                  <a:pt x="20104099" y="0"/>
                </a:moveTo>
                <a:lnTo>
                  <a:pt x="0" y="0"/>
                </a:lnTo>
                <a:lnTo>
                  <a:pt x="0" y="1929181"/>
                </a:lnTo>
                <a:lnTo>
                  <a:pt x="20104099" y="1929181"/>
                </a:lnTo>
                <a:lnTo>
                  <a:pt x="20104099" y="0"/>
                </a:lnTo>
                <a:close/>
              </a:path>
            </a:pathLst>
          </a:custGeom>
          <a:solidFill>
            <a:srgbClr val="00346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73385" y="228797"/>
            <a:ext cx="3002294" cy="148313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60828" y="243195"/>
            <a:ext cx="11583035" cy="542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35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3449701"/>
            <a:ext cx="18093690" cy="9899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3948791"/>
            <a:ext cx="6433312" cy="7499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3948791"/>
            <a:ext cx="4623943" cy="7499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3948791"/>
            <a:ext cx="4623943" cy="7499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oleObject" Target="../embeddings/oleObject1.bin"/><Relationship Id="rId8" Type="http://schemas.openxmlformats.org/officeDocument/2006/relationships/image" Target="../media/image6.wmf"/><Relationship Id="rId9" Type="http://schemas.openxmlformats.org/officeDocument/2006/relationships/image" Target="../media/image7.png"/><Relationship Id="rId10" Type="http://schemas.openxmlformats.org/officeDocument/2006/relationships/image" Target="../media/image8.tif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CA1DAB34-DE21-1C35-FAC4-35AD5BE237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81"/>
          <a:stretch>
            <a:fillRect/>
          </a:stretch>
        </p:blipFill>
        <p:spPr>
          <a:xfrm>
            <a:off x="21983182" y="21514448"/>
            <a:ext cx="4804469" cy="42421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224F76B-8958-3474-E72C-ABD15281D0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76857" y="14818557"/>
            <a:ext cx="4197096" cy="4660411"/>
          </a:xfrm>
          <a:prstGeom prst="rect">
            <a:avLst/>
          </a:prstGeom>
        </p:spPr>
      </p:pic>
      <p:pic>
        <p:nvPicPr>
          <p:cNvPr id="94" name="Picture 2" descr="A graph of a brain connection">
            <a:extLst>
              <a:ext uri="{FF2B5EF4-FFF2-40B4-BE49-F238E27FC236}">
                <a16:creationId xmlns:a16="http://schemas.microsoft.com/office/drawing/2014/main" id="{A122BE0C-DF89-81A5-A537-8754749A4B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00"/>
          <a:stretch>
            <a:fillRect/>
          </a:stretch>
        </p:blipFill>
        <p:spPr bwMode="auto">
          <a:xfrm>
            <a:off x="22632538" y="17864649"/>
            <a:ext cx="9644262" cy="2763936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BF0F9677-44CD-A9D2-D3CE-A729235F9540}"/>
              </a:ext>
            </a:extLst>
          </p:cNvPr>
          <p:cNvSpPr/>
          <p:nvPr/>
        </p:nvSpPr>
        <p:spPr>
          <a:xfrm>
            <a:off x="0" y="9682946"/>
            <a:ext cx="5833815" cy="323730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6646601" y="10839076"/>
            <a:ext cx="22832851" cy="1499258"/>
          </a:xfrm>
          <a:prstGeom prst="rect">
            <a:avLst/>
          </a:prstGeom>
        </p:spPr>
        <p:txBody>
          <a:bodyPr vert="horz" wrap="square" lIns="0" tIns="18034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420"/>
              </a:spcBef>
            </a:pPr>
            <a:r>
              <a:rPr lang="en-US" sz="3274" dirty="0">
                <a:solidFill>
                  <a:schemeClr val="bg1"/>
                </a:solidFill>
              </a:rPr>
              <a:t>Alfredo F. Frontera Del Valle¹, Josué Ortega Caro, Ph.D.², Rachel Oren², Shreya Saxena, Ph.D.², Jessica Cardin, Ph.D.²</a:t>
            </a:r>
          </a:p>
          <a:p>
            <a:pPr algn="ctr">
              <a:lnSpc>
                <a:spcPct val="100000"/>
              </a:lnSpc>
              <a:spcBef>
                <a:spcPts val="1420"/>
              </a:spcBef>
            </a:pPr>
            <a:r>
              <a:rPr lang="en-US" sz="2619" dirty="0">
                <a:solidFill>
                  <a:schemeClr val="bg1"/>
                </a:solidFill>
              </a:rPr>
              <a:t>¹University of Puerto Rico, Río Piedras, ²Wu Tsai Institute, Yale University</a:t>
            </a:r>
            <a:endParaRPr sz="1350" dirty="0">
              <a:solidFill>
                <a:schemeClr val="bg1"/>
              </a:solidFill>
              <a:latin typeface="Trebuchet MS"/>
              <a:cs typeface="Trebuchet MS"/>
            </a:endParaRPr>
          </a:p>
        </p:txBody>
      </p:sp>
      <p:pic>
        <p:nvPicPr>
          <p:cNvPr id="4" name="object 4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9878385" y="10040653"/>
            <a:ext cx="2428640" cy="242864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213128" y="13198834"/>
            <a:ext cx="2019189" cy="45021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619" b="1" spc="60" dirty="0">
                <a:solidFill>
                  <a:srgbClr val="00346B"/>
                </a:solidFill>
                <a:latin typeface="Trebuchet MS"/>
                <a:cs typeface="Trebuchet MS"/>
              </a:rPr>
              <a:t>Background</a:t>
            </a:r>
            <a:endParaRPr sz="1600" dirty="0">
              <a:latin typeface="Trebuchet MS"/>
              <a:cs typeface="Trebuchet M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0" y="13830165"/>
            <a:ext cx="32912976" cy="74860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26298" y="13966773"/>
            <a:ext cx="10293943" cy="49596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01299"/>
              </a:lnSpc>
              <a:spcBef>
                <a:spcPts val="90"/>
              </a:spcBef>
            </a:pP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Autism Spectrum Disorder (ASD) affects 1 in 31 children, with diagnosis typically delayed until age 4-5 when behavioral symptoms become apparent. This delay misses the critical window when interventions are most effective. Current diagnosis relies on subjective behavioral assessments with no objective biomarkers available.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The Convergent Phenotype Hypothesis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Multiple autism-associated genes affecting different cellular processes converge on similar behavioral and neural phenotypes. We investigate three high-confidence autism genes: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GRIN2A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NMDA receptor subunit (synaptic transmission, plasticity)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GRIN2B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NMDA receptor subunit (developmental synaptic transmission)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MECP2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Transcriptional regulator (gene expression)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Research Question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Can artificial intelligence detect convergent neural signatures across distinct genetic autism models?</a:t>
            </a:r>
          </a:p>
          <a:p>
            <a:pPr marL="298450" marR="5080" indent="-285750" algn="just">
              <a:lnSpc>
                <a:spcPct val="101299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endParaRPr sz="1350" dirty="0">
              <a:latin typeface="Tahoma"/>
              <a:cs typeface="Tahom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4017942" y="13134309"/>
            <a:ext cx="6216649" cy="43045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US" sz="2619" b="1" spc="55" dirty="0">
                <a:solidFill>
                  <a:srgbClr val="00346B"/>
                </a:solidFill>
                <a:latin typeface="Trebuchet MS"/>
                <a:cs typeface="Trebuchet MS"/>
              </a:rPr>
              <a:t>Vision Transformer Architecture</a:t>
            </a:r>
            <a:endParaRPr sz="1600" dirty="0">
              <a:latin typeface="Trebuchet MS"/>
              <a:cs typeface="Trebuchet MS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1650512" y="19704995"/>
            <a:ext cx="7989786" cy="8598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801" dirty="0">
                <a:solidFill>
                  <a:srgbClr val="00346B"/>
                </a:solidFill>
                <a:latin typeface="Tahoma"/>
                <a:cs typeface="Tahoma"/>
              </a:rPr>
              <a:t>Figure 3. </a:t>
            </a:r>
            <a:r>
              <a:rPr lang="en-US" sz="1801" dirty="0"/>
              <a:t>Mice run freely on a wheel while widefield calcium imaging captures neural activity across the dorsal cortex. Data is parcellated into 82 brain regions across 3 seconds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1419765" y="21227260"/>
            <a:ext cx="10685229" cy="1786931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r>
              <a:rPr lang="en-US" sz="2292" dirty="0"/>
              <a:t>We developed a Vision Transformer adapted for neural time series:</a:t>
            </a:r>
          </a:p>
          <a:p>
            <a:r>
              <a:rPr lang="en-US" sz="2292" b="1" dirty="0"/>
              <a:t>Input</a:t>
            </a:r>
            <a:r>
              <a:rPr lang="en-US" sz="2292" dirty="0"/>
              <a:t>: 82 regions × 30 timepoints → 246 patches</a:t>
            </a:r>
          </a:p>
          <a:p>
            <a:r>
              <a:rPr lang="en-US" sz="2292" b="1" dirty="0"/>
              <a:t>Architecture</a:t>
            </a:r>
            <a:r>
              <a:rPr lang="en-US" sz="2292" dirty="0"/>
              <a:t>: 6 transformer layers, single-head attention, 128-dim embeddings</a:t>
            </a:r>
          </a:p>
          <a:p>
            <a:r>
              <a:rPr lang="en-US" sz="2292" b="1" dirty="0"/>
              <a:t>Training</a:t>
            </a:r>
            <a:r>
              <a:rPr lang="en-US" sz="2292" dirty="0"/>
              <a:t>: 244,205 windows with session-level train/validation split</a:t>
            </a:r>
          </a:p>
          <a:p>
            <a:r>
              <a:rPr lang="en-US" sz="2292" b="1" dirty="0"/>
              <a:t>Key Innovation</a:t>
            </a:r>
            <a:r>
              <a:rPr lang="en-US" sz="2292" dirty="0"/>
              <a:t>: Treats brain activity as spatiotemporal "image" for AI analysis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11593182" y="28558392"/>
            <a:ext cx="8359568" cy="85986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sz="1801" spc="-20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sz="1801" dirty="0">
                <a:solidFill>
                  <a:srgbClr val="00346B"/>
                </a:solidFill>
                <a:latin typeface="Tahoma"/>
                <a:cs typeface="Tahoma"/>
              </a:rPr>
              <a:t>4.</a:t>
            </a:r>
            <a:r>
              <a:rPr sz="1801" spc="-1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/>
              <a:t>Vision Transformer processes 3-second brain activity windows by dividing them into patches (82 regions × 3 time segments). Self-attention mechanisms learn which brain patterns distinguish autism models from controls.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1218873" y="30481293"/>
            <a:ext cx="9918149" cy="1420831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01299"/>
              </a:lnSpc>
              <a:spcBef>
                <a:spcPts val="90"/>
              </a:spcBef>
            </a:pPr>
            <a:r>
              <a:rPr lang="en-US" sz="2292" dirty="0"/>
              <a:t>Our Brain Vision Transformer achieved </a:t>
            </a:r>
            <a:r>
              <a:rPr lang="en-US" sz="2292" b="1" dirty="0"/>
              <a:t>82% test accuracy</a:t>
            </a:r>
            <a:r>
              <a:rPr lang="en-US" sz="2292" dirty="0"/>
              <a:t> in distinguishing autism models from controls across all three genes combined, demonstrating that different genetic mutations cause detectable, unique patterns of altered cortical activity.</a:t>
            </a:r>
            <a:endParaRPr sz="1350" dirty="0">
              <a:latin typeface="Tahoma"/>
              <a:cs typeface="Tahom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2865947" y="13091031"/>
            <a:ext cx="9876559" cy="492403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5397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25"/>
              </a:spcBef>
            </a:pPr>
            <a:r>
              <a:rPr lang="en-US" sz="2619" b="1" dirty="0">
                <a:solidFill>
                  <a:schemeClr val="tx2"/>
                </a:solidFill>
                <a:latin typeface="Trebuchet MS"/>
                <a:cs typeface="Trebuchet MS"/>
              </a:rPr>
              <a:t>Results</a:t>
            </a:r>
            <a:endParaRPr sz="1600" dirty="0">
              <a:solidFill>
                <a:schemeClr val="tx2"/>
              </a:solidFill>
              <a:latin typeface="Trebuchet MS"/>
              <a:cs typeface="Trebuchet MS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26066465" y="26517580"/>
            <a:ext cx="2031666" cy="45021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619" b="1" spc="60" dirty="0">
                <a:solidFill>
                  <a:srgbClr val="00346B"/>
                </a:solidFill>
                <a:latin typeface="Trebuchet MS"/>
                <a:cs typeface="Trebuchet MS"/>
              </a:rPr>
              <a:t>Conclusions</a:t>
            </a:r>
            <a:endParaRPr sz="1600" dirty="0">
              <a:latin typeface="Trebuchet MS"/>
              <a:cs typeface="Trebuchet MS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22023172" y="26936385"/>
            <a:ext cx="10889805" cy="74860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 txBox="1"/>
          <p:nvPr/>
        </p:nvSpPr>
        <p:spPr>
          <a:xfrm>
            <a:off x="22532362" y="26701993"/>
            <a:ext cx="9634269" cy="243891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endParaRPr lang="en-US" sz="1200" b="1" dirty="0"/>
          </a:p>
          <a:p>
            <a:r>
              <a:rPr lang="en-US" sz="1964" b="1" dirty="0"/>
              <a:t>AI Detects Invisible Patterns</a:t>
            </a:r>
            <a:r>
              <a:rPr lang="en-US" sz="1964" dirty="0"/>
              <a:t>: Vision Transformers successfully identify autism-related neural signatures with 82% accuracy, detecting subtle 1-3% connectivity changes invisible to traditional analysis.</a:t>
            </a:r>
          </a:p>
          <a:p>
            <a:endParaRPr lang="en-US" sz="1200" dirty="0"/>
          </a:p>
          <a:p>
            <a:r>
              <a:rPr lang="en-US" sz="1964" b="1" dirty="0"/>
              <a:t>Convergent Neural Phenotypes</a:t>
            </a:r>
            <a:r>
              <a:rPr lang="en-US" sz="1964" dirty="0"/>
              <a:t>: Different autism genes converge on detectable brain activity patterns, supporting the hypothesis of shared neural mechanisms despite distinct genetic causes.</a:t>
            </a:r>
          </a:p>
        </p:txBody>
      </p:sp>
      <p:sp>
        <p:nvSpPr>
          <p:cNvPr id="41" name="object 41"/>
          <p:cNvSpPr txBox="1"/>
          <p:nvPr/>
        </p:nvSpPr>
        <p:spPr>
          <a:xfrm>
            <a:off x="25973444" y="28871700"/>
            <a:ext cx="3194743" cy="43045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619" b="1" spc="-10" dirty="0">
                <a:solidFill>
                  <a:srgbClr val="00346B"/>
                </a:solidFill>
                <a:latin typeface="Trebuchet MS"/>
                <a:cs typeface="Trebuchet MS"/>
              </a:rPr>
              <a:t>Future</a:t>
            </a:r>
            <a:r>
              <a:rPr sz="2619" b="1" spc="-105" dirty="0">
                <a:solidFill>
                  <a:srgbClr val="00346B"/>
                </a:solidFill>
                <a:latin typeface="Trebuchet MS"/>
                <a:cs typeface="Trebuchet MS"/>
              </a:rPr>
              <a:t> </a:t>
            </a:r>
            <a:r>
              <a:rPr lang="en-US" sz="2619" b="1" spc="-20" dirty="0">
                <a:solidFill>
                  <a:srgbClr val="00346B"/>
                </a:solidFill>
                <a:latin typeface="Trebuchet MS"/>
                <a:cs typeface="Trebuchet MS"/>
              </a:rPr>
              <a:t>Directions</a:t>
            </a:r>
            <a:endParaRPr sz="1600" dirty="0">
              <a:latin typeface="Trebuchet MS"/>
              <a:cs typeface="Trebuchet MS"/>
            </a:endParaRPr>
          </a:p>
        </p:txBody>
      </p:sp>
      <p:sp>
        <p:nvSpPr>
          <p:cNvPr id="42" name="object 42"/>
          <p:cNvSpPr/>
          <p:nvPr/>
        </p:nvSpPr>
        <p:spPr>
          <a:xfrm flipV="1">
            <a:off x="21973060" y="29343035"/>
            <a:ext cx="10939916" cy="74860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 txBox="1"/>
          <p:nvPr/>
        </p:nvSpPr>
        <p:spPr>
          <a:xfrm>
            <a:off x="26429332" y="31006624"/>
            <a:ext cx="1878823" cy="45021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619" b="1" spc="-10" dirty="0">
                <a:solidFill>
                  <a:srgbClr val="00346B"/>
                </a:solidFill>
                <a:latin typeface="Trebuchet MS"/>
                <a:cs typeface="Trebuchet MS"/>
              </a:rPr>
              <a:t>References</a:t>
            </a:r>
            <a:endParaRPr sz="1600" dirty="0">
              <a:latin typeface="Trebuchet MS"/>
              <a:cs typeface="Trebuchet MS"/>
            </a:endParaRPr>
          </a:p>
        </p:txBody>
      </p:sp>
      <p:sp>
        <p:nvSpPr>
          <p:cNvPr id="46" name="object 46"/>
          <p:cNvSpPr/>
          <p:nvPr/>
        </p:nvSpPr>
        <p:spPr>
          <a:xfrm flipV="1">
            <a:off x="21973060" y="31422256"/>
            <a:ext cx="10939916" cy="74860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 txBox="1"/>
          <p:nvPr/>
        </p:nvSpPr>
        <p:spPr>
          <a:xfrm>
            <a:off x="22349108" y="31663643"/>
            <a:ext cx="10643185" cy="18798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>
              <a:lnSpc>
                <a:spcPct val="105600"/>
              </a:lnSpc>
              <a:spcBef>
                <a:spcPts val="100"/>
              </a:spcBef>
              <a:tabLst>
                <a:tab pos="229235" algn="l"/>
              </a:tabLst>
            </a:pPr>
            <a:r>
              <a:rPr lang="en-US" sz="1391" spc="-20" dirty="0">
                <a:latin typeface="Tahoma"/>
                <a:cs typeface="Tahoma"/>
              </a:rPr>
              <a:t>1.	Vaswani A, </a:t>
            </a:r>
            <a:r>
              <a:rPr lang="en-US" sz="1391" spc="-20" dirty="0" err="1">
                <a:latin typeface="Tahoma"/>
                <a:cs typeface="Tahoma"/>
              </a:rPr>
              <a:t>Shazeer</a:t>
            </a:r>
            <a:r>
              <a:rPr lang="en-US" sz="1391" spc="-20" dirty="0">
                <a:latin typeface="Tahoma"/>
                <a:cs typeface="Tahoma"/>
              </a:rPr>
              <a:t> N, Parmar N, et al. (2017). Attention is all you need. Advances in Neural Information Processing Systems, 30, 5998-6008.</a:t>
            </a:r>
          </a:p>
          <a:p>
            <a:pPr marL="12065" marR="5080">
              <a:lnSpc>
                <a:spcPct val="105600"/>
              </a:lnSpc>
              <a:spcBef>
                <a:spcPts val="100"/>
              </a:spcBef>
              <a:tabLst>
                <a:tab pos="229235" algn="l"/>
              </a:tabLst>
            </a:pPr>
            <a:r>
              <a:rPr lang="en-US" sz="1391" spc="-20" dirty="0">
                <a:latin typeface="Tahoma"/>
                <a:cs typeface="Tahoma"/>
              </a:rPr>
              <a:t>2.	Ortega Caro J, Badea A, Marks S, et al. (2024). </a:t>
            </a:r>
            <a:r>
              <a:rPr lang="en-US" sz="1391" spc="-20" dirty="0" err="1">
                <a:latin typeface="Tahoma"/>
                <a:cs typeface="Tahoma"/>
              </a:rPr>
              <a:t>BrainLM</a:t>
            </a:r>
            <a:r>
              <a:rPr lang="en-US" sz="1391" spc="-20" dirty="0">
                <a:latin typeface="Tahoma"/>
                <a:cs typeface="Tahoma"/>
              </a:rPr>
              <a:t>: A foundation model for brain activity recordings. International Conference on Learning Representations (ICLR).</a:t>
            </a:r>
          </a:p>
          <a:p>
            <a:pPr marL="12065" marR="5080">
              <a:lnSpc>
                <a:spcPct val="105600"/>
              </a:lnSpc>
              <a:spcBef>
                <a:spcPts val="100"/>
              </a:spcBef>
              <a:tabLst>
                <a:tab pos="229235" algn="l"/>
              </a:tabLst>
            </a:pPr>
            <a:r>
              <a:rPr lang="en-US" sz="1391" spc="-20" dirty="0">
                <a:latin typeface="Tahoma"/>
                <a:cs typeface="Tahoma"/>
              </a:rPr>
              <a:t>3.	</a:t>
            </a:r>
            <a:r>
              <a:rPr lang="en-US" sz="1391" spc="-20" dirty="0" err="1">
                <a:latin typeface="Tahoma"/>
                <a:cs typeface="Tahoma"/>
              </a:rPr>
              <a:t>Dosovitskiy</a:t>
            </a:r>
            <a:r>
              <a:rPr lang="en-US" sz="1391" spc="-20" dirty="0">
                <a:latin typeface="Tahoma"/>
                <a:cs typeface="Tahoma"/>
              </a:rPr>
              <a:t> A, Beyer L, Kolesnikov A, et al. (2021). An image is worth 16x16 words: Transformers for image recognition at scale. International Conference on Learning Representations (ICLR).</a:t>
            </a:r>
          </a:p>
          <a:p>
            <a:pPr marL="12065" marR="5080">
              <a:lnSpc>
                <a:spcPct val="105600"/>
              </a:lnSpc>
              <a:spcBef>
                <a:spcPts val="100"/>
              </a:spcBef>
              <a:tabLst>
                <a:tab pos="229235" algn="l"/>
              </a:tabLst>
            </a:pPr>
            <a:r>
              <a:rPr lang="en-US" sz="1391" spc="-20" dirty="0">
                <a:latin typeface="Tahoma"/>
                <a:cs typeface="Tahoma"/>
              </a:rPr>
              <a:t>4.	Sanders SJ, Murtha MT, Gupta AR, et al. (2012). De novo mutations revealed by whole-exome sequencing are strongly associated with autism. Nature, 485(7397), 237-241.</a:t>
            </a:r>
            <a:endParaRPr sz="850" dirty="0">
              <a:latin typeface="Tahoma"/>
              <a:cs typeface="Tahoma"/>
            </a:endParaRPr>
          </a:p>
        </p:txBody>
      </p:sp>
      <p:sp>
        <p:nvSpPr>
          <p:cNvPr id="48" name="object 48"/>
          <p:cNvSpPr/>
          <p:nvPr/>
        </p:nvSpPr>
        <p:spPr>
          <a:xfrm>
            <a:off x="-5423" y="33568429"/>
            <a:ext cx="32918399" cy="713265"/>
          </a:xfrm>
          <a:custGeom>
            <a:avLst/>
            <a:gdLst/>
            <a:ahLst/>
            <a:cxnLst/>
            <a:rect l="l" t="t" r="r" b="b"/>
            <a:pathLst>
              <a:path w="20104100" h="435609">
                <a:moveTo>
                  <a:pt x="20104099" y="0"/>
                </a:moveTo>
                <a:lnTo>
                  <a:pt x="0" y="0"/>
                </a:lnTo>
                <a:lnTo>
                  <a:pt x="0" y="435111"/>
                </a:lnTo>
                <a:lnTo>
                  <a:pt x="20104099" y="435111"/>
                </a:lnTo>
                <a:lnTo>
                  <a:pt x="20104099" y="0"/>
                </a:lnTo>
                <a:close/>
              </a:path>
            </a:pathLst>
          </a:custGeom>
          <a:solidFill>
            <a:srgbClr val="00346B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49" name="object 49"/>
          <p:cNvSpPr txBox="1"/>
          <p:nvPr/>
        </p:nvSpPr>
        <p:spPr>
          <a:xfrm>
            <a:off x="14355416" y="33631670"/>
            <a:ext cx="1953685" cy="381587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210" dirty="0">
                <a:solidFill>
                  <a:srgbClr val="FFFFFF"/>
                </a:solidFill>
                <a:latin typeface="Trebuchet MS"/>
                <a:cs typeface="Trebuchet MS"/>
              </a:rPr>
              <a:t>Poster</a:t>
            </a:r>
            <a:r>
              <a:rPr sz="2210" spc="8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2210" spc="55" dirty="0">
                <a:solidFill>
                  <a:srgbClr val="FFFFFF"/>
                </a:solidFill>
                <a:latin typeface="Trebuchet MS"/>
                <a:cs typeface="Trebuchet MS"/>
              </a:rPr>
              <a:t>Session</a:t>
            </a:r>
            <a:endParaRPr sz="1350">
              <a:latin typeface="Trebuchet MS"/>
              <a:cs typeface="Trebuchet MS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29310476" y="33803975"/>
            <a:ext cx="3896633" cy="363266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z="2210" spc="-10" dirty="0">
                <a:solidFill>
                  <a:srgbClr val="FFFFFF"/>
                </a:solidFill>
                <a:latin typeface="Trebuchet MS"/>
                <a:cs typeface="Trebuchet MS"/>
              </a:rPr>
              <a:t>alfredo.frontera2@upr.edu</a:t>
            </a:r>
            <a:endParaRPr sz="1350" dirty="0">
              <a:latin typeface="Trebuchet MS"/>
              <a:cs typeface="Trebuchet MS"/>
            </a:endParaRPr>
          </a:p>
        </p:txBody>
      </p:sp>
      <p:graphicFrame>
        <p:nvGraphicFramePr>
          <p:cNvPr id="51" name="Object 50">
            <a:extLst>
              <a:ext uri="{FF2B5EF4-FFF2-40B4-BE49-F238E27FC236}">
                <a16:creationId xmlns:a16="http://schemas.microsoft.com/office/drawing/2014/main" id="{2C19AA08-4F70-A679-0CCF-04A5C340D5B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47516872"/>
              </p:ext>
            </p:extLst>
          </p:nvPr>
        </p:nvGraphicFramePr>
        <p:xfrm>
          <a:off x="0" y="10269497"/>
          <a:ext cx="5853363" cy="21064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crobat Document" r:id="rId7" imgW="4671000" imgH="1379160" progId="Acrobat.Document.DC">
                  <p:embed/>
                </p:oleObj>
              </mc:Choice>
              <mc:Fallback>
                <p:oleObj name="Acrobat Document" r:id="rId7" imgW="4671000" imgH="1379160" progId="Acrobat.Document.DC">
                  <p:embed/>
                  <p:pic>
                    <p:nvPicPr>
                      <p:cNvPr id="51" name="Object 50">
                        <a:extLst>
                          <a:ext uri="{FF2B5EF4-FFF2-40B4-BE49-F238E27FC236}">
                            <a16:creationId xmlns:a16="http://schemas.microsoft.com/office/drawing/2014/main" id="{2C19AA08-4F70-A679-0CCF-04A5C340D5B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0" y="368459"/>
                        <a:ext cx="3574797" cy="128646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Title 55">
            <a:extLst>
              <a:ext uri="{FF2B5EF4-FFF2-40B4-BE49-F238E27FC236}">
                <a16:creationId xmlns:a16="http://schemas.microsoft.com/office/drawing/2014/main" id="{5856B73C-E079-A9CF-3EB3-3FE248563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2395" y="10149285"/>
            <a:ext cx="22921263" cy="844120"/>
          </a:xfrm>
        </p:spPr>
        <p:txBody>
          <a:bodyPr/>
          <a:lstStyle/>
          <a:p>
            <a:r>
              <a:rPr lang="en-US" dirty="0"/>
              <a:t>Discrimination of Autism Mouse Models via Machine Learning Methods</a:t>
            </a:r>
          </a:p>
        </p:txBody>
      </p:sp>
      <p:pic>
        <p:nvPicPr>
          <p:cNvPr id="57" name="Content Placeholder 14" descr="A diagram of a cell division">
            <a:extLst>
              <a:ext uri="{FF2B5EF4-FFF2-40B4-BE49-F238E27FC236}">
                <a16:creationId xmlns:a16="http://schemas.microsoft.com/office/drawing/2014/main" id="{B69B3D88-7676-8726-AA62-7CC8E5087FD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84" b="34265"/>
          <a:stretch>
            <a:fillRect/>
          </a:stretch>
        </p:blipFill>
        <p:spPr>
          <a:xfrm>
            <a:off x="40622" y="18584516"/>
            <a:ext cx="11178251" cy="343666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485D4B41-882C-6AF1-0FEB-4C464436F67C}"/>
              </a:ext>
            </a:extLst>
          </p:cNvPr>
          <p:cNvSpPr txBox="1"/>
          <p:nvPr/>
        </p:nvSpPr>
        <p:spPr>
          <a:xfrm>
            <a:off x="479876" y="22101110"/>
            <a:ext cx="10939888" cy="705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lang="en-US" sz="1801" spc="20" dirty="0">
                <a:solidFill>
                  <a:srgbClr val="00346B"/>
                </a:solidFill>
                <a:latin typeface="Tahoma"/>
                <a:cs typeface="Tahoma"/>
              </a:rPr>
              <a:t> 1</a:t>
            </a: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.</a:t>
            </a:r>
            <a:r>
              <a:rPr lang="en-US" sz="1801" spc="20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/>
              <a:t>Different autism genes affecting distinct cellular processes may lead to convergent neural phenotypes and shared behavioral outcomes including social deficits and repetitive behaviors.</a:t>
            </a:r>
            <a:endParaRPr lang="en-US" sz="1100" dirty="0">
              <a:latin typeface="Tahoma"/>
              <a:cs typeface="Tahom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3C1C4A7-5B79-AE88-02A7-F71BBD1B800A}"/>
              </a:ext>
            </a:extLst>
          </p:cNvPr>
          <p:cNvSpPr txBox="1"/>
          <p:nvPr/>
        </p:nvSpPr>
        <p:spPr>
          <a:xfrm>
            <a:off x="426296" y="27040076"/>
            <a:ext cx="10106343" cy="98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lang="en-US" sz="1801" spc="20" dirty="0">
                <a:solidFill>
                  <a:srgbClr val="00346B"/>
                </a:solidFill>
                <a:latin typeface="Tahoma"/>
                <a:cs typeface="Tahoma"/>
              </a:rPr>
              <a:t> 2</a:t>
            </a: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.</a:t>
            </a:r>
            <a:r>
              <a:rPr lang="en-US" sz="1801" spc="20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/>
              <a:t>Three-chamber social preference test shows reduced social interaction in MeCP2 knockdown mice, with sex-specific effects. Females exhibit stronger behavioral deficits despite mosaic expression.</a:t>
            </a:r>
            <a:endParaRPr lang="en-US" sz="1100" dirty="0">
              <a:latin typeface="Tahoma"/>
              <a:cs typeface="Tahoma"/>
            </a:endParaRPr>
          </a:p>
        </p:txBody>
      </p:sp>
      <p:pic>
        <p:nvPicPr>
          <p:cNvPr id="62" name="Picture 61" descr="A picture containing table, building, clock">
            <a:extLst>
              <a:ext uri="{FF2B5EF4-FFF2-40B4-BE49-F238E27FC236}">
                <a16:creationId xmlns:a16="http://schemas.microsoft.com/office/drawing/2014/main" id="{61D45FA5-2BB8-29B0-640E-32D058245A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1406" y="24100603"/>
            <a:ext cx="5126345" cy="2148542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64DD15D8-6A3E-F362-DD2F-7D298E64CF25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673"/>
          <a:stretch>
            <a:fillRect/>
          </a:stretch>
        </p:blipFill>
        <p:spPr>
          <a:xfrm>
            <a:off x="5696847" y="22958679"/>
            <a:ext cx="5167408" cy="4019435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7F91D7C9-D9B0-F436-26EF-BC84093FBC79}"/>
              </a:ext>
            </a:extLst>
          </p:cNvPr>
          <p:cNvSpPr/>
          <p:nvPr/>
        </p:nvSpPr>
        <p:spPr>
          <a:xfrm>
            <a:off x="5479468" y="23070018"/>
            <a:ext cx="499078" cy="3705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bject 36">
            <a:extLst>
              <a:ext uri="{FF2B5EF4-FFF2-40B4-BE49-F238E27FC236}">
                <a16:creationId xmlns:a16="http://schemas.microsoft.com/office/drawing/2014/main" id="{D9E071BB-A3DC-33A3-DAFD-00C797BFB84E}"/>
              </a:ext>
            </a:extLst>
          </p:cNvPr>
          <p:cNvSpPr/>
          <p:nvPr/>
        </p:nvSpPr>
        <p:spPr>
          <a:xfrm>
            <a:off x="40622" y="28376271"/>
            <a:ext cx="10977359" cy="85018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8A73AC0-0C05-767A-8CC6-DAFE568ECF9F}"/>
              </a:ext>
            </a:extLst>
          </p:cNvPr>
          <p:cNvSpPr txBox="1"/>
          <p:nvPr/>
        </p:nvSpPr>
        <p:spPr>
          <a:xfrm>
            <a:off x="4213128" y="27838532"/>
            <a:ext cx="17204847" cy="554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619" b="1" spc="60" dirty="0">
                <a:solidFill>
                  <a:srgbClr val="00346B"/>
                </a:solidFill>
                <a:latin typeface="Trebuchet MS"/>
                <a:cs typeface="Trebuchet MS"/>
              </a:rPr>
              <a:t>Methods</a:t>
            </a:r>
            <a:endParaRPr lang="en-US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76FA034-19D0-6B2D-4E7A-1345545B0C6F}"/>
              </a:ext>
            </a:extLst>
          </p:cNvPr>
          <p:cNvSpPr txBox="1"/>
          <p:nvPr/>
        </p:nvSpPr>
        <p:spPr>
          <a:xfrm>
            <a:off x="76122" y="28703898"/>
            <a:ext cx="11343643" cy="3678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Experimental Design</a:t>
            </a:r>
          </a:p>
          <a:p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We recorded spontaneous cortical activity from 129 mouse sessions: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Subjects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57 control, 72 knockdown mice across three genes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Age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P60-90 (adult mice)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Recording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20-30 minutes per session, awake and head-fixed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Widefield Calcium Imaging</a:t>
            </a:r>
          </a:p>
          <a:p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Using GCaMP6f calcium indicator, we captured whole-cortex dynamics: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Coverage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82 cortical regions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Sampling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10Hz (100ms resolution)</a:t>
            </a:r>
          </a:p>
          <a:p>
            <a:r>
              <a:rPr lang="en-US" sz="2292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Processing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  <a:r>
              <a:rPr lang="el-GR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Δ</a:t>
            </a:r>
            <a:r>
              <a:rPr lang="en-US" sz="2292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F/F normalization, z-scoring, 3-second windows</a:t>
            </a:r>
          </a:p>
        </p:txBody>
      </p:sp>
      <p:sp>
        <p:nvSpPr>
          <p:cNvPr id="72" name="Footer Placeholder 4">
            <a:extLst>
              <a:ext uri="{FF2B5EF4-FFF2-40B4-BE49-F238E27FC236}">
                <a16:creationId xmlns:a16="http://schemas.microsoft.com/office/drawing/2014/main" id="{0330EBF8-1221-D7F6-5D0B-A9FE7D023994}"/>
              </a:ext>
            </a:extLst>
          </p:cNvPr>
          <p:cNvSpPr txBox="1">
            <a:spLocks/>
          </p:cNvSpPr>
          <p:nvPr/>
        </p:nvSpPr>
        <p:spPr>
          <a:xfrm>
            <a:off x="12973521" y="21293062"/>
            <a:ext cx="421177" cy="288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defPPr>
              <a:defRPr kern="0"/>
            </a:defPPr>
          </a:lstStyle>
          <a:p>
            <a:pPr defTabSz="457200">
              <a:lnSpc>
                <a:spcPct val="90000"/>
              </a:lnSpc>
              <a:spcAft>
                <a:spcPts val="600"/>
              </a:spcAft>
            </a:pPr>
            <a:r>
              <a:rPr lang="en-US" sz="1146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
              </a:t>
            </a:r>
          </a:p>
        </p:txBody>
      </p:sp>
      <p:sp>
        <p:nvSpPr>
          <p:cNvPr id="73" name="Slide Number Placeholder 5">
            <a:extLst>
              <a:ext uri="{FF2B5EF4-FFF2-40B4-BE49-F238E27FC236}">
                <a16:creationId xmlns:a16="http://schemas.microsoft.com/office/drawing/2014/main" id="{8D40CB7D-1991-71A3-8F9D-7CDEFD33A7BF}"/>
              </a:ext>
            </a:extLst>
          </p:cNvPr>
          <p:cNvSpPr txBox="1">
            <a:spLocks/>
          </p:cNvSpPr>
          <p:nvPr/>
        </p:nvSpPr>
        <p:spPr>
          <a:xfrm>
            <a:off x="18354238" y="21293062"/>
            <a:ext cx="280785" cy="288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2500" lnSpcReduction="20000"/>
          </a:bodyPr>
          <a:lstStyle>
            <a:defPPr>
              <a:defRPr kern="0"/>
            </a:defPPr>
          </a:lstStyle>
          <a:p>
            <a:pPr defTabSz="457200">
              <a:spcAft>
                <a:spcPts val="600"/>
              </a:spcAft>
            </a:pPr>
            <a:fld id="{70C12960-6E85-460F-B6E3-5B82CB31AF3D}" type="slidenum">
              <a:rPr lang="en-US" smtClean="0">
                <a:solidFill>
                  <a:srgbClr val="FFFFFF"/>
                </a:solidFill>
              </a:rPr>
              <a:pPr defTabSz="457200">
                <a:spcAft>
                  <a:spcPts val="600"/>
                </a:spcAft>
              </a:pPr>
              <a:t>1</a:t>
            </a:fld>
            <a:endParaRPr lang="en-US">
              <a:solidFill>
                <a:srgbClr val="FFFFFF"/>
              </a:solidFill>
            </a:endParaRPr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2544EDDC-C4C8-6951-BD31-BCFE89943C6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51964"/>
          <a:stretch>
            <a:fillRect/>
          </a:stretch>
        </p:blipFill>
        <p:spPr>
          <a:xfrm>
            <a:off x="17949021" y="15391679"/>
            <a:ext cx="3958684" cy="2887155"/>
          </a:xfrm>
          <a:prstGeom prst="rect">
            <a:avLst/>
          </a:prstGeom>
        </p:spPr>
      </p:pic>
      <p:grpSp>
        <p:nvGrpSpPr>
          <p:cNvPr id="75" name="Group 74">
            <a:extLst>
              <a:ext uri="{FF2B5EF4-FFF2-40B4-BE49-F238E27FC236}">
                <a16:creationId xmlns:a16="http://schemas.microsoft.com/office/drawing/2014/main" id="{4B9ACAB7-94DF-7D0E-DA7A-57536E77A153}"/>
              </a:ext>
            </a:extLst>
          </p:cNvPr>
          <p:cNvGrpSpPr/>
          <p:nvPr/>
        </p:nvGrpSpPr>
        <p:grpSpPr>
          <a:xfrm>
            <a:off x="11095297" y="15168820"/>
            <a:ext cx="1464578" cy="2969090"/>
            <a:chOff x="1038624" y="1631125"/>
            <a:chExt cx="2339631" cy="3493737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CE6BEAD7-DBC0-A496-EB22-44D91873E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038624" y="1631125"/>
              <a:ext cx="2339631" cy="2449301"/>
            </a:xfrm>
            <a:prstGeom prst="rect">
              <a:avLst/>
            </a:prstGeom>
          </p:spPr>
        </p:pic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B84AFC6D-FE62-7BD0-CCAA-128488F38B37}"/>
                </a:ext>
              </a:extLst>
            </p:cNvPr>
            <p:cNvSpPr txBox="1"/>
            <p:nvPr/>
          </p:nvSpPr>
          <p:spPr>
            <a:xfrm>
              <a:off x="1038624" y="4237209"/>
              <a:ext cx="1773888" cy="8876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57175" indent="-257175">
                <a:buFont typeface="Arial" panose="020B0604020202020204" pitchFamily="34" charset="0"/>
                <a:buChar char="•"/>
              </a:pPr>
              <a:r>
                <a:rPr lang="en-US" sz="1050" i="1" dirty="0">
                  <a:solidFill>
                    <a:srgbClr val="0070C0"/>
                  </a:solidFill>
                </a:rPr>
                <a:t>Pupil Diameter</a:t>
              </a:r>
            </a:p>
            <a:p>
              <a:pPr marL="257175" indent="-257175">
                <a:buFont typeface="Arial" panose="020B0604020202020204" pitchFamily="34" charset="0"/>
                <a:buChar char="•"/>
              </a:pPr>
              <a:r>
                <a:rPr lang="en-US" sz="1050" i="1" dirty="0">
                  <a:solidFill>
                    <a:srgbClr val="0070C0"/>
                  </a:solidFill>
                </a:rPr>
                <a:t>Facial Movements</a:t>
              </a:r>
            </a:p>
            <a:p>
              <a:pPr marL="257175" indent="-257175">
                <a:buFont typeface="Arial" panose="020B0604020202020204" pitchFamily="34" charset="0"/>
                <a:buChar char="•"/>
              </a:pPr>
              <a:r>
                <a:rPr lang="en-US" sz="1050" i="1" dirty="0">
                  <a:solidFill>
                    <a:srgbClr val="0070C0"/>
                  </a:solidFill>
                </a:rPr>
                <a:t>Grooming</a:t>
              </a:r>
            </a:p>
            <a:p>
              <a:pPr marL="257175" indent="-257175">
                <a:buFont typeface="Arial" panose="020B0604020202020204" pitchFamily="34" charset="0"/>
                <a:buChar char="•"/>
              </a:pPr>
              <a:r>
                <a:rPr lang="en-US" sz="1050" i="1" dirty="0">
                  <a:solidFill>
                    <a:srgbClr val="0070C0"/>
                  </a:solidFill>
                </a:rPr>
                <a:t>Locomotion</a:t>
              </a:r>
            </a:p>
          </p:txBody>
        </p:sp>
      </p:grp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8C76DF5D-4EB6-C8CB-4732-E18ADB7F1A8D}"/>
              </a:ext>
            </a:extLst>
          </p:cNvPr>
          <p:cNvCxnSpPr>
            <a:cxnSpLocks/>
          </p:cNvCxnSpPr>
          <p:nvPr/>
        </p:nvCxnSpPr>
        <p:spPr>
          <a:xfrm>
            <a:off x="12768429" y="16753801"/>
            <a:ext cx="884463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CC893A01-F9CB-C30C-3BF7-26CABFAF8373}"/>
              </a:ext>
            </a:extLst>
          </p:cNvPr>
          <p:cNvCxnSpPr>
            <a:cxnSpLocks/>
          </p:cNvCxnSpPr>
          <p:nvPr/>
        </p:nvCxnSpPr>
        <p:spPr>
          <a:xfrm>
            <a:off x="17299474" y="16835256"/>
            <a:ext cx="649547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1" name="Content Placeholder 9" descr="A screenshot of a computer">
            <a:extLst>
              <a:ext uri="{FF2B5EF4-FFF2-40B4-BE49-F238E27FC236}">
                <a16:creationId xmlns:a16="http://schemas.microsoft.com/office/drawing/2014/main" id="{3CD1F770-116F-43A2-4EFA-DE0FEDBA9798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3349" y="23693669"/>
            <a:ext cx="10316538" cy="4699210"/>
          </a:xfrm>
          <a:prstGeom prst="rect">
            <a:avLst/>
          </a:prstGeom>
        </p:spPr>
      </p:pic>
      <p:pic>
        <p:nvPicPr>
          <p:cNvPr id="92" name="Content Placeholder 6">
            <a:extLst>
              <a:ext uri="{FF2B5EF4-FFF2-40B4-BE49-F238E27FC236}">
                <a16:creationId xmlns:a16="http://schemas.microsoft.com/office/drawing/2014/main" id="{7D0F43C9-D7C6-D5BE-DF0C-EFBCD82B27F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3321" b="48324"/>
          <a:stretch>
            <a:fillRect/>
          </a:stretch>
        </p:blipFill>
        <p:spPr>
          <a:xfrm>
            <a:off x="23321532" y="13869784"/>
            <a:ext cx="8339204" cy="3367099"/>
          </a:xfrm>
          <a:prstGeom prst="rect">
            <a:avLst/>
          </a:prstGeom>
          <a:noFill/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7D219C9B-2F7C-23D4-BF6A-1C13403B6A77}"/>
              </a:ext>
            </a:extLst>
          </p:cNvPr>
          <p:cNvSpPr txBox="1"/>
          <p:nvPr/>
        </p:nvSpPr>
        <p:spPr>
          <a:xfrm>
            <a:off x="22305887" y="20708883"/>
            <a:ext cx="10708860" cy="98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135"/>
              </a:spcBef>
            </a:pP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lang="en-US" sz="1801" spc="3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spc="-10" dirty="0">
                <a:solidFill>
                  <a:srgbClr val="00346B"/>
                </a:solidFill>
                <a:latin typeface="Tahoma"/>
                <a:cs typeface="Tahoma"/>
              </a:rPr>
              <a:t>6.</a:t>
            </a:r>
            <a:r>
              <a:rPr lang="en-US" sz="1801" spc="-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/>
              <a:t>Correlation matrices showing changes in functional connectivity across cortical areas (knockdown minus control). Red indicates increased connectivity in knockdown; blue indicates decreased connectivity.</a:t>
            </a:r>
            <a:endParaRPr lang="en-US" sz="1100" dirty="0">
              <a:latin typeface="Tahoma"/>
              <a:cs typeface="Tahoma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B00661-C7F0-CA76-BD58-ECEB9046B261}"/>
              </a:ext>
            </a:extLst>
          </p:cNvPr>
          <p:cNvSpPr/>
          <p:nvPr/>
        </p:nvSpPr>
        <p:spPr>
          <a:xfrm>
            <a:off x="18254601" y="18442956"/>
            <a:ext cx="3866787" cy="32584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C0D6F80-F4E9-5032-6845-3A1F0BF5EB99}"/>
              </a:ext>
            </a:extLst>
          </p:cNvPr>
          <p:cNvSpPr txBox="1"/>
          <p:nvPr/>
        </p:nvSpPr>
        <p:spPr>
          <a:xfrm>
            <a:off x="22305887" y="25834074"/>
            <a:ext cx="10352077" cy="98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135"/>
              </a:spcBef>
            </a:pPr>
            <a:r>
              <a:rPr lang="en-US"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lang="en-US" sz="1801" spc="3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spc="-10" dirty="0">
                <a:solidFill>
                  <a:srgbClr val="00346B"/>
                </a:solidFill>
                <a:latin typeface="Tahoma"/>
                <a:cs typeface="Tahoma"/>
              </a:rPr>
              <a:t>7.</a:t>
            </a:r>
            <a:r>
              <a:rPr lang="en-US" sz="1801" spc="-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/>
              <a:t>(</a:t>
            </a:r>
            <a:r>
              <a:rPr lang="en-US" sz="1801" i="1" dirty="0"/>
              <a:t>left) </a:t>
            </a:r>
            <a:r>
              <a:rPr lang="en-US" sz="1801" dirty="0"/>
              <a:t>Cross-gene validation matrix showing how models trained on one gene can detect autism in other genes, supporting convergent pathways. (</a:t>
            </a:r>
            <a:r>
              <a:rPr lang="en-US" sz="1801" i="1" dirty="0"/>
              <a:t>right) </a:t>
            </a:r>
            <a:r>
              <a:rPr lang="en-US" sz="1801" dirty="0"/>
              <a:t>Performance distribution in same gene vs cross gene.</a:t>
            </a:r>
            <a:endParaRPr lang="en-US" sz="1100" dirty="0">
              <a:latin typeface="Tahoma"/>
              <a:cs typeface="Tahoma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D91BE53-C911-5B6F-483D-1E3211171D2D}"/>
              </a:ext>
            </a:extLst>
          </p:cNvPr>
          <p:cNvSpPr txBox="1"/>
          <p:nvPr/>
        </p:nvSpPr>
        <p:spPr>
          <a:xfrm>
            <a:off x="22343739" y="29390867"/>
            <a:ext cx="10708860" cy="1965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964" b="1" dirty="0"/>
              <a:t>Technical Optimization</a:t>
            </a:r>
            <a:r>
              <a:rPr lang="en-US" sz="1964" dirty="0"/>
              <a:t>: Reduce train-validation gap through architectural improvements and regularization strategies</a:t>
            </a:r>
          </a:p>
          <a:p>
            <a:r>
              <a:rPr lang="en-US" sz="1964" b="1" dirty="0"/>
              <a:t>Analyze brain state-dependent effects: </a:t>
            </a:r>
            <a:r>
              <a:rPr lang="en-US" sz="1964" dirty="0"/>
              <a:t>Analyze Quiescence and Arousal data in respect to locomotion of wheel to find new answers in correlation to the convergent neural phenotypes.</a:t>
            </a:r>
          </a:p>
          <a:p>
            <a:r>
              <a:rPr lang="en-US" sz="1964" b="1" dirty="0"/>
              <a:t>Clinical Relevance: </a:t>
            </a:r>
            <a:r>
              <a:rPr lang="en-US" sz="1964" dirty="0"/>
              <a:t>Demonstrates feasibility of objective biomarkers for early autism screening.</a:t>
            </a:r>
            <a:endParaRPr lang="en-US" sz="1200" b="1" dirty="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B460344-DA68-E013-B055-7BD4ED69EA81}"/>
              </a:ext>
            </a:extLst>
          </p:cNvPr>
          <p:cNvSpPr/>
          <p:nvPr/>
        </p:nvSpPr>
        <p:spPr>
          <a:xfrm>
            <a:off x="17956436" y="27149487"/>
            <a:ext cx="1122927" cy="115156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0668694-53B4-9762-CD71-28F14E7015D9}"/>
              </a:ext>
            </a:extLst>
          </p:cNvPr>
          <p:cNvSpPr txBox="1"/>
          <p:nvPr/>
        </p:nvSpPr>
        <p:spPr>
          <a:xfrm>
            <a:off x="17706896" y="27420133"/>
            <a:ext cx="1622005" cy="60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73" dirty="0"/>
              <a:t>Binary Classification</a:t>
            </a:r>
          </a:p>
        </p:txBody>
      </p:sp>
      <p:sp>
        <p:nvSpPr>
          <p:cNvPr id="34" name="object 34"/>
          <p:cNvSpPr txBox="1"/>
          <p:nvPr/>
        </p:nvSpPr>
        <p:spPr>
          <a:xfrm>
            <a:off x="22532362" y="17208568"/>
            <a:ext cx="9959739" cy="58269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algn="l">
              <a:lnSpc>
                <a:spcPct val="100000"/>
              </a:lnSpc>
              <a:spcBef>
                <a:spcPts val="135"/>
              </a:spcBef>
            </a:pPr>
            <a:r>
              <a:rPr sz="1801" dirty="0">
                <a:solidFill>
                  <a:srgbClr val="00346B"/>
                </a:solidFill>
                <a:latin typeface="Tahoma"/>
                <a:cs typeface="Tahoma"/>
              </a:rPr>
              <a:t>Figure</a:t>
            </a:r>
            <a:r>
              <a:rPr sz="1801" spc="3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sz="1801" spc="-10" dirty="0">
                <a:solidFill>
                  <a:srgbClr val="00346B"/>
                </a:solidFill>
                <a:latin typeface="Tahoma"/>
                <a:cs typeface="Tahoma"/>
              </a:rPr>
              <a:t>5.</a:t>
            </a:r>
            <a:r>
              <a:rPr sz="1801" spc="-5" dirty="0">
                <a:solidFill>
                  <a:srgbClr val="00346B"/>
                </a:solidFill>
                <a:latin typeface="Tahoma"/>
                <a:cs typeface="Tahoma"/>
              </a:rPr>
              <a:t> </a:t>
            </a:r>
            <a:r>
              <a:rPr lang="en-US" sz="1801" dirty="0">
                <a:latin typeface="Tahoma"/>
                <a:cs typeface="Tahoma"/>
              </a:rPr>
              <a:t>Model Performance - </a:t>
            </a:r>
            <a:r>
              <a:rPr lang="en-US" sz="1801" dirty="0"/>
              <a:t>Training dynamics show convergence without overfitting. </a:t>
            </a:r>
            <a:r>
              <a:rPr lang="en-US" sz="1801" b="1" dirty="0"/>
              <a:t>Test accuracy: 81.97%, </a:t>
            </a:r>
            <a:r>
              <a:rPr lang="en-US" sz="1801" dirty="0"/>
              <a:t>Sensitivity: 84.53%, Specificity: 78.64%. </a:t>
            </a:r>
            <a:endParaRPr sz="1100" dirty="0">
              <a:latin typeface="Tahoma"/>
              <a:cs typeface="Tahoma"/>
            </a:endParaRPr>
          </a:p>
        </p:txBody>
      </p:sp>
      <p:sp>
        <p:nvSpPr>
          <p:cNvPr id="2" name="object 21">
            <a:extLst>
              <a:ext uri="{FF2B5EF4-FFF2-40B4-BE49-F238E27FC236}">
                <a16:creationId xmlns:a16="http://schemas.microsoft.com/office/drawing/2014/main" id="{E6BC547A-0098-F5F2-E56C-DC4FCE72FDA4}"/>
              </a:ext>
            </a:extLst>
          </p:cNvPr>
          <p:cNvSpPr/>
          <p:nvPr/>
        </p:nvSpPr>
        <p:spPr>
          <a:xfrm rot="5400000">
            <a:off x="529604" y="23040509"/>
            <a:ext cx="20691470" cy="285278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21">
            <a:extLst>
              <a:ext uri="{FF2B5EF4-FFF2-40B4-BE49-F238E27FC236}">
                <a16:creationId xmlns:a16="http://schemas.microsoft.com/office/drawing/2014/main" id="{BA55EE95-0F8A-2E16-5B90-20CE6FAF0D9B}"/>
              </a:ext>
            </a:extLst>
          </p:cNvPr>
          <p:cNvSpPr/>
          <p:nvPr/>
        </p:nvSpPr>
        <p:spPr>
          <a:xfrm rot="5400000">
            <a:off x="11222030" y="23233206"/>
            <a:ext cx="21208998" cy="293061"/>
          </a:xfrm>
          <a:custGeom>
            <a:avLst/>
            <a:gdLst/>
            <a:ahLst/>
            <a:cxnLst/>
            <a:rect l="l" t="t" r="r" b="b"/>
            <a:pathLst>
              <a:path w="6031865">
                <a:moveTo>
                  <a:pt x="0" y="0"/>
                </a:moveTo>
                <a:lnTo>
                  <a:pt x="6031291" y="0"/>
                </a:lnTo>
              </a:path>
            </a:pathLst>
          </a:custGeom>
          <a:ln w="543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A098F4-B7C6-4C85-D88A-9AFF916F270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756263" y="21536810"/>
            <a:ext cx="5952338" cy="4180268"/>
          </a:xfrm>
          <a:prstGeom prst="rect">
            <a:avLst/>
          </a:prstGeom>
        </p:spPr>
      </p:pic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767</TotalTime>
  <Words>855</Words>
  <Application>Microsoft Office PowerPoint</Application>
  <PresentationFormat>Custom</PresentationFormat>
  <Paragraphs>60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Arial</vt:lpstr>
      <vt:lpstr>Calibri</vt:lpstr>
      <vt:lpstr>Tahoma</vt:lpstr>
      <vt:lpstr>Trebuchet MS</vt:lpstr>
      <vt:lpstr>Office Theme</vt:lpstr>
      <vt:lpstr>Acrobat Document</vt:lpstr>
      <vt:lpstr>Discrimination of Autism Mouse Models via Machine Learning Methods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Towards A Language Model for Brain Activity Recordings</dc:title>
  <dc:creator> Jans Solano Vega, Josue Ortega Caro </dc:creator>
  <cp:lastModifiedBy>ALFREDO F FRONTERA DEL VALLE</cp:lastModifiedBy>
  <cp:revision>4</cp:revision>
  <dcterms:created xsi:type="dcterms:W3CDTF">2025-07-23T16:19:08Z</dcterms:created>
  <dcterms:modified xsi:type="dcterms:W3CDTF">2025-07-24T21:36:10Z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2025-07-23T00:00:00Z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2025-07-23T00:00:00Z</vt:filetime>
  </property>
  <property fmtid="{D5CDD505-2E9C-101B-9397-08002B2CF9AE}" pid="5" name="PTEX.FullBanner">
    <vt:lpwstr>This is LuaHBTeX, Version 1.18.0 (TeX Live 2024)</vt:lpwstr>
  </property>
  <property fmtid="{D5CDD505-2E9C-101B-9397-08002B2CF9AE}" pid="6" name="Producer">
    <vt:lpwstr>LuaTeX-1.18.0</vt:lpwstr>
  </property>
</Properties>
</file>